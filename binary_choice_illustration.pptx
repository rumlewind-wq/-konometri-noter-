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9" r:id="rId2"/>
    <p:sldId id="272" r:id="rId3"/>
    <p:sldId id="273" r:id="rId4"/>
    <p:sldId id="274" r:id="rId5"/>
    <p:sldId id="294" r:id="rId6"/>
    <p:sldId id="296" r:id="rId7"/>
    <p:sldId id="297" r:id="rId8"/>
    <p:sldId id="298" r:id="rId9"/>
    <p:sldId id="299" r:id="rId10"/>
    <p:sldId id="300" r:id="rId11"/>
    <p:sldId id="295" r:id="rId12"/>
    <p:sldId id="277" r:id="rId13"/>
    <p:sldId id="275" r:id="rId14"/>
    <p:sldId id="276" r:id="rId15"/>
    <p:sldId id="278" r:id="rId16"/>
    <p:sldId id="279" r:id="rId17"/>
    <p:sldId id="280" r:id="rId18"/>
    <p:sldId id="281" r:id="rId19"/>
    <p:sldId id="282" r:id="rId20"/>
    <p:sldId id="283" r:id="rId21"/>
    <p:sldId id="291" r:id="rId22"/>
    <p:sldId id="292" r:id="rId23"/>
    <p:sldId id="293" r:id="rId24"/>
  </p:sldIdLst>
  <p:sldSz cx="9144000" cy="6858000" type="screen4x3"/>
  <p:notesSz cx="6743700" cy="9906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49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F33F01-FBFF-44DA-8D0B-97D710B95D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1DEC76-6FB6-46C8-A417-EFDE87CBF3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22E99E-E876-4B2B-94B4-7FB050444F5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A1B3B4-4C72-485B-827A-9A74D47826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659A8-FC4F-4A89-8B32-325CC71B2E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5CA1CD-0D06-4F87-87C6-6605FA45E7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9055F0-8A44-404D-8DB2-E3CF1142FC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7638F-28D4-4179-A028-2106C7623C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3A30E-68D8-4DD4-BFCF-58E6604495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FBA7F-FBE2-4AE4-871C-18AD373EB9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B63F64-FF31-467F-BAD6-58FC97E8E0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8F1DBA-DF0B-4986-9F79-7631D41E1E7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3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5188" name="Line 68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208" name="Line 8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230" name="Rectangle 110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231" name="Rectangle 111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257" name="Text Box 137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</a:t>
            </a:r>
            <a:r>
              <a:rPr lang="en-GB" sz="1800" i="1"/>
              <a:t>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</a:p>
        </p:txBody>
      </p:sp>
      <p:sp>
        <p:nvSpPr>
          <p:cNvPr id="5258" name="Line 138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35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18444" name="AutoShape 12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6" name="AutoShape 14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7" name="AutoShape 15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8" name="AutoShape 16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49" name="AutoShape 17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50" name="AutoShape 18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51" name="AutoShape 19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52" name="AutoShape 20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53" name="AutoShape 21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54" name="AutoShape 22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55" name="AutoShape 23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56" name="AutoShape 24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57" name="AutoShape 25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58" name="AutoShape 26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59" name="AutoShape 27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60" name="AutoShape 28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61" name="AutoShape 29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62" name="AutoShape 30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63" name="AutoShape 31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64" name="AutoShape 32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65" name="AutoShape 33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66" name="AutoShape 34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8467" name="Text Box 35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</a:t>
            </a:r>
            <a:r>
              <a:rPr lang="en-GB" sz="1800" i="1"/>
              <a:t>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</a:p>
        </p:txBody>
      </p:sp>
      <p:sp>
        <p:nvSpPr>
          <p:cNvPr id="18475" name="Line 43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59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19467" name="AutoShape 11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68" name="AutoShape 12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69" name="AutoShape 13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70" name="AutoShape 14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71" name="AutoShape 15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72" name="AutoShape 16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73" name="AutoShape 17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74" name="AutoShape 18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75" name="AutoShape 19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76" name="AutoShape 20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77" name="AutoShape 21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78" name="AutoShape 22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79" name="AutoShape 23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80" name="AutoShape 24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81" name="AutoShape 25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82" name="AutoShape 26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83" name="AutoShape 27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84" name="AutoShape 28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85" name="AutoShape 29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86" name="AutoShape 30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87" name="AutoShape 31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88" name="AutoShape 32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89" name="AutoShape 33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90" name="Text Box 34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</a:t>
            </a:r>
            <a:r>
              <a:rPr lang="en-GB" sz="1800" i="1"/>
              <a:t>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</a:p>
        </p:txBody>
      </p:sp>
      <p:sp>
        <p:nvSpPr>
          <p:cNvPr id="19491" name="Line 35"/>
          <p:cNvSpPr>
            <a:spLocks noChangeShapeType="1"/>
          </p:cNvSpPr>
          <p:nvPr/>
        </p:nvSpPr>
        <p:spPr bwMode="auto">
          <a:xfrm flipV="1">
            <a:off x="2286000" y="838200"/>
            <a:ext cx="5257800" cy="434340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9498" name="Line 42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83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475615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0491" name="AutoShape 11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92" name="AutoShape 12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93" name="AutoShape 13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94" name="AutoShape 14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95" name="AutoShape 15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96" name="AutoShape 16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97" name="AutoShape 17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98" name="AutoShape 18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499" name="AutoShape 19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00" name="AutoShape 20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01" name="AutoShape 21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02" name="AutoShape 22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03" name="AutoShape 23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04" name="AutoShape 24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05" name="AutoShape 25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06" name="AutoShape 26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07" name="AutoShape 27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08" name="AutoShape 28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09" name="AutoShape 29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10" name="AutoShape 30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11" name="AutoShape 31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12" name="AutoShape 32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13" name="AutoShape 33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14" name="Text Box 34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</a:t>
            </a:r>
            <a:r>
              <a:rPr lang="en-GB" sz="1800" i="1"/>
              <a:t>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</a:p>
        </p:txBody>
      </p:sp>
      <p:sp>
        <p:nvSpPr>
          <p:cNvPr id="20515" name="Line 35"/>
          <p:cNvSpPr>
            <a:spLocks noChangeShapeType="1"/>
          </p:cNvSpPr>
          <p:nvPr/>
        </p:nvSpPr>
        <p:spPr bwMode="auto">
          <a:xfrm flipV="1">
            <a:off x="2286000" y="838200"/>
            <a:ext cx="5257800" cy="434340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16" name="Line 36"/>
          <p:cNvSpPr>
            <a:spLocks noChangeShapeType="1"/>
          </p:cNvSpPr>
          <p:nvPr/>
        </p:nvSpPr>
        <p:spPr bwMode="auto">
          <a:xfrm>
            <a:off x="4876800" y="30480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17" name="Line 37"/>
          <p:cNvSpPr>
            <a:spLocks noChangeShapeType="1"/>
          </p:cNvSpPr>
          <p:nvPr/>
        </p:nvSpPr>
        <p:spPr bwMode="auto">
          <a:xfrm>
            <a:off x="2438400" y="30480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0518" name="Text Box 38"/>
          <p:cNvSpPr txBox="1">
            <a:spLocks noChangeArrowheads="1"/>
          </p:cNvSpPr>
          <p:nvPr/>
        </p:nvSpPr>
        <p:spPr bwMode="auto">
          <a:xfrm>
            <a:off x="76200" y="2833688"/>
            <a:ext cx="2438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/>
              <a:t>Pr(</a:t>
            </a:r>
            <a:r>
              <a:rPr lang="en-GB" sz="1800" i="1"/>
              <a:t>y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 i="1"/>
              <a:t>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/>
              <a:t>)</a:t>
            </a:r>
            <a:r>
              <a:rPr lang="en-GB" sz="1800" i="1"/>
              <a:t>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 </a:t>
            </a:r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</a:p>
        </p:txBody>
      </p:sp>
      <p:sp>
        <p:nvSpPr>
          <p:cNvPr id="20519" name="Rectangle 39"/>
          <p:cNvSpPr>
            <a:spLocks noChangeArrowheads="1"/>
          </p:cNvSpPr>
          <p:nvPr/>
        </p:nvSpPr>
        <p:spPr bwMode="auto">
          <a:xfrm>
            <a:off x="1841500" y="27432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0520" name="Rectangle 40"/>
          <p:cNvSpPr>
            <a:spLocks noChangeArrowheads="1"/>
          </p:cNvSpPr>
          <p:nvPr/>
        </p:nvSpPr>
        <p:spPr bwMode="auto">
          <a:xfrm>
            <a:off x="1524000" y="27432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0521" name="Rectangle 41"/>
          <p:cNvSpPr>
            <a:spLocks noChangeArrowheads="1"/>
          </p:cNvSpPr>
          <p:nvPr/>
        </p:nvSpPr>
        <p:spPr bwMode="auto">
          <a:xfrm>
            <a:off x="152400" y="2735263"/>
            <a:ext cx="368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0522" name="Line 42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8131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48134" name="Line 6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8135" name="Rectangle 7"/>
          <p:cNvSpPr>
            <a:spLocks noChangeArrowheads="1"/>
          </p:cNvSpPr>
          <p:nvPr/>
        </p:nvSpPr>
        <p:spPr bwMode="auto">
          <a:xfrm>
            <a:off x="475615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8136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8138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8162" name="Text Box 34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y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x+u</a:t>
            </a:r>
          </a:p>
        </p:txBody>
      </p:sp>
      <p:sp>
        <p:nvSpPr>
          <p:cNvPr id="48164" name="Line 36"/>
          <p:cNvSpPr>
            <a:spLocks noChangeShapeType="1"/>
          </p:cNvSpPr>
          <p:nvPr/>
        </p:nvSpPr>
        <p:spPr bwMode="auto">
          <a:xfrm>
            <a:off x="4876800" y="1600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8170" name="Line 42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50182" name="Line 6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475615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0184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0185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0186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0187" name="AutoShape 11"/>
          <p:cNvSpPr>
            <a:spLocks noChangeArrowheads="1"/>
          </p:cNvSpPr>
          <p:nvPr/>
        </p:nvSpPr>
        <p:spPr bwMode="auto">
          <a:xfrm>
            <a:off x="48450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0188" name="Text Box 12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y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x+u</a:t>
            </a:r>
          </a:p>
        </p:txBody>
      </p:sp>
      <p:sp>
        <p:nvSpPr>
          <p:cNvPr id="50189" name="Line 13"/>
          <p:cNvSpPr>
            <a:spLocks noChangeShapeType="1"/>
          </p:cNvSpPr>
          <p:nvPr/>
        </p:nvSpPr>
        <p:spPr bwMode="auto">
          <a:xfrm>
            <a:off x="4876800" y="1600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0190" name="Line 14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03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51206" name="Line 6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475615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1208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1210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1211" name="AutoShape 11"/>
          <p:cNvSpPr>
            <a:spLocks noChangeArrowheads="1"/>
          </p:cNvSpPr>
          <p:nvPr/>
        </p:nvSpPr>
        <p:spPr bwMode="auto">
          <a:xfrm>
            <a:off x="48450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y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x+u</a:t>
            </a:r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>
            <a:off x="4876800" y="1600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1215" name="Rectangle 15"/>
          <p:cNvSpPr>
            <a:spLocks noChangeArrowheads="1"/>
          </p:cNvSpPr>
          <p:nvPr/>
        </p:nvSpPr>
        <p:spPr bwMode="auto">
          <a:xfrm>
            <a:off x="2603500" y="1981200"/>
            <a:ext cx="1892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u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 i="1"/>
              <a:t> </a:t>
            </a:r>
            <a:r>
              <a:rPr lang="en-GB" sz="1800" i="1" baseline="-25000"/>
              <a:t>| y=</a:t>
            </a:r>
            <a:r>
              <a:rPr lang="en-GB" sz="1800" baseline="-25000"/>
              <a:t>1</a:t>
            </a:r>
            <a:r>
              <a:rPr lang="en-GB" sz="1800"/>
              <a:t>=</a:t>
            </a:r>
            <a:r>
              <a:rPr lang="en-GB" sz="1800" i="1"/>
              <a:t> </a:t>
            </a:r>
            <a:r>
              <a:rPr lang="en-GB" sz="1800"/>
              <a:t>1</a:t>
            </a:r>
            <a:r>
              <a:rPr lang="en-GB" sz="1800" i="1"/>
              <a:t>-</a:t>
            </a:r>
            <a:r>
              <a:rPr lang="en-GB" sz="1800"/>
              <a:t>(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  <a:r>
              <a:rPr lang="en-GB" sz="1800"/>
              <a:t>)</a:t>
            </a:r>
          </a:p>
        </p:txBody>
      </p:sp>
      <p:sp>
        <p:nvSpPr>
          <p:cNvPr id="51216" name="AutoShape 16"/>
          <p:cNvSpPr>
            <a:spLocks/>
          </p:cNvSpPr>
          <p:nvPr/>
        </p:nvSpPr>
        <p:spPr bwMode="auto">
          <a:xfrm>
            <a:off x="4724400" y="1600200"/>
            <a:ext cx="76200" cy="1219200"/>
          </a:xfrm>
          <a:prstGeom prst="leftBrace">
            <a:avLst>
              <a:gd name="adj1" fmla="val 1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2227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475615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2232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2235" name="AutoShape 11"/>
          <p:cNvSpPr>
            <a:spLocks noChangeArrowheads="1"/>
          </p:cNvSpPr>
          <p:nvPr/>
        </p:nvSpPr>
        <p:spPr bwMode="auto">
          <a:xfrm>
            <a:off x="48768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y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x+u</a:t>
            </a: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4876800" y="1600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3251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53254" name="Line 6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475615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3258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53259" name="AutoShape 11"/>
          <p:cNvSpPr>
            <a:spLocks noChangeArrowheads="1"/>
          </p:cNvSpPr>
          <p:nvPr/>
        </p:nvSpPr>
        <p:spPr bwMode="auto">
          <a:xfrm>
            <a:off x="4845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y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x+u</a:t>
            </a:r>
          </a:p>
        </p:txBody>
      </p:sp>
      <p:sp>
        <p:nvSpPr>
          <p:cNvPr id="53261" name="Line 13"/>
          <p:cNvSpPr>
            <a:spLocks noChangeShapeType="1"/>
          </p:cNvSpPr>
          <p:nvPr/>
        </p:nvSpPr>
        <p:spPr bwMode="auto">
          <a:xfrm>
            <a:off x="4876800" y="16002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3262" name="Line 14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3263" name="Rectangle 15"/>
          <p:cNvSpPr>
            <a:spLocks noChangeArrowheads="1"/>
          </p:cNvSpPr>
          <p:nvPr/>
        </p:nvSpPr>
        <p:spPr bwMode="auto">
          <a:xfrm>
            <a:off x="5162550" y="3276600"/>
            <a:ext cx="1778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u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 i="1"/>
              <a:t> </a:t>
            </a:r>
            <a:r>
              <a:rPr lang="en-GB" sz="1800" i="1" baseline="-25000"/>
              <a:t>| y=</a:t>
            </a:r>
            <a:r>
              <a:rPr lang="en-GB" sz="1800" baseline="-25000"/>
              <a:t>0</a:t>
            </a:r>
            <a:r>
              <a:rPr lang="en-GB" sz="1800"/>
              <a:t>=</a:t>
            </a:r>
            <a:r>
              <a:rPr lang="en-GB" sz="1800" i="1"/>
              <a:t> -</a:t>
            </a:r>
            <a:r>
              <a:rPr lang="en-GB" sz="1800"/>
              <a:t>(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  <a:r>
              <a:rPr lang="en-GB" sz="1800"/>
              <a:t>)</a:t>
            </a:r>
          </a:p>
        </p:txBody>
      </p:sp>
      <p:sp>
        <p:nvSpPr>
          <p:cNvPr id="53264" name="AutoShape 16"/>
          <p:cNvSpPr>
            <a:spLocks/>
          </p:cNvSpPr>
          <p:nvPr/>
        </p:nvSpPr>
        <p:spPr bwMode="auto">
          <a:xfrm flipH="1">
            <a:off x="4953000" y="2895600"/>
            <a:ext cx="76200" cy="1295400"/>
          </a:xfrm>
          <a:prstGeom prst="leftBrace">
            <a:avLst>
              <a:gd name="adj1" fmla="val 1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u</a:t>
            </a:r>
            <a:endParaRPr lang="en-GB"/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3810000" y="838200"/>
            <a:ext cx="514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f(u)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54278" name="Line 6"/>
          <p:cNvSpPr>
            <a:spLocks noChangeShapeType="1"/>
          </p:cNvSpPr>
          <p:nvPr/>
        </p:nvSpPr>
        <p:spPr bwMode="auto">
          <a:xfrm flipV="1">
            <a:off x="3048000" y="2514600"/>
            <a:ext cx="0" cy="1676400"/>
          </a:xfrm>
          <a:prstGeom prst="line">
            <a:avLst/>
          </a:prstGeom>
          <a:noFill/>
          <a:ln w="25400">
            <a:solidFill>
              <a:srgbClr val="0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 flipV="1">
            <a:off x="3048000" y="25146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228600" y="2362200"/>
            <a:ext cx="2316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0 </a:t>
            </a:r>
            <a:r>
              <a:rPr lang="en-GB" sz="1800" i="1"/>
              <a:t>|x</a:t>
            </a:r>
            <a:r>
              <a:rPr lang="en-GB" sz="1800"/>
              <a:t>)= 1</a:t>
            </a:r>
            <a:r>
              <a:rPr lang="en-GB" sz="1800" i="1"/>
              <a:t>-</a:t>
            </a:r>
            <a:r>
              <a:rPr lang="en-GB" sz="1800"/>
              <a:t>(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  <a:r>
              <a:rPr lang="en-GB" sz="1800"/>
              <a:t>)</a:t>
            </a:r>
            <a:endParaRPr lang="en-US" sz="1800"/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 flipV="1">
            <a:off x="44196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287" name="Rectangle 15"/>
          <p:cNvSpPr>
            <a:spLocks noChangeArrowheads="1"/>
          </p:cNvSpPr>
          <p:nvPr/>
        </p:nvSpPr>
        <p:spPr bwMode="auto">
          <a:xfrm>
            <a:off x="2286000" y="4343400"/>
            <a:ext cx="1778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u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 i="1"/>
              <a:t> </a:t>
            </a:r>
            <a:r>
              <a:rPr lang="en-GB" sz="1800" i="1" baseline="-25000"/>
              <a:t>| y=</a:t>
            </a:r>
            <a:r>
              <a:rPr lang="en-GB" sz="1800" baseline="-25000"/>
              <a:t>0</a:t>
            </a:r>
            <a:r>
              <a:rPr lang="en-GB" sz="1800"/>
              <a:t>=</a:t>
            </a:r>
            <a:r>
              <a:rPr lang="en-GB" sz="1800" i="1"/>
              <a:t> -</a:t>
            </a:r>
            <a:r>
              <a:rPr lang="en-GB" sz="1800"/>
              <a:t>(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  <a:r>
              <a:rPr lang="en-GB" sz="1800"/>
              <a:t>)</a:t>
            </a:r>
          </a:p>
        </p:txBody>
      </p:sp>
      <p:sp>
        <p:nvSpPr>
          <p:cNvPr id="54289" name="Rectangle 17"/>
          <p:cNvSpPr>
            <a:spLocks noChangeArrowheads="1"/>
          </p:cNvSpPr>
          <p:nvPr/>
        </p:nvSpPr>
        <p:spPr bwMode="auto">
          <a:xfrm>
            <a:off x="4648200" y="4343400"/>
            <a:ext cx="1892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u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 i="1"/>
              <a:t> </a:t>
            </a:r>
            <a:r>
              <a:rPr lang="en-GB" sz="1800" i="1" baseline="-25000"/>
              <a:t>| y=</a:t>
            </a:r>
            <a:r>
              <a:rPr lang="en-GB" sz="1800" baseline="-25000"/>
              <a:t>1</a:t>
            </a:r>
            <a:r>
              <a:rPr lang="en-GB" sz="1800"/>
              <a:t>=</a:t>
            </a:r>
            <a:r>
              <a:rPr lang="en-GB" sz="1800" i="1"/>
              <a:t> </a:t>
            </a:r>
            <a:r>
              <a:rPr lang="en-GB" sz="1800"/>
              <a:t>1</a:t>
            </a:r>
            <a:r>
              <a:rPr lang="en-GB" sz="1800" i="1"/>
              <a:t>-</a:t>
            </a:r>
            <a:r>
              <a:rPr lang="en-GB" sz="1800"/>
              <a:t>(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  <a:r>
              <a:rPr lang="en-GB" sz="1800"/>
              <a:t>)</a:t>
            </a:r>
          </a:p>
        </p:txBody>
      </p:sp>
      <p:sp>
        <p:nvSpPr>
          <p:cNvPr id="54290" name="Line 18"/>
          <p:cNvSpPr>
            <a:spLocks noChangeShapeType="1"/>
          </p:cNvSpPr>
          <p:nvPr/>
        </p:nvSpPr>
        <p:spPr bwMode="auto">
          <a:xfrm flipV="1">
            <a:off x="5181600" y="1676400"/>
            <a:ext cx="0" cy="2514600"/>
          </a:xfrm>
          <a:prstGeom prst="line">
            <a:avLst/>
          </a:prstGeom>
          <a:noFill/>
          <a:ln w="25400">
            <a:solidFill>
              <a:srgbClr val="0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291" name="Line 19"/>
          <p:cNvSpPr>
            <a:spLocks noChangeShapeType="1"/>
          </p:cNvSpPr>
          <p:nvPr/>
        </p:nvSpPr>
        <p:spPr bwMode="auto">
          <a:xfrm flipV="1">
            <a:off x="4419600" y="16764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292" name="Rectangle 20"/>
          <p:cNvSpPr>
            <a:spLocks noChangeArrowheads="1"/>
          </p:cNvSpPr>
          <p:nvPr/>
        </p:nvSpPr>
        <p:spPr bwMode="auto">
          <a:xfrm>
            <a:off x="5505450" y="1524000"/>
            <a:ext cx="21256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 </a:t>
            </a:r>
            <a:r>
              <a:rPr lang="en-GB" sz="1800" i="1"/>
              <a:t>|x</a:t>
            </a:r>
            <a:r>
              <a:rPr lang="en-GB" sz="1800"/>
              <a:t>)= (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  <a:r>
              <a:rPr lang="en-GB" sz="1800"/>
              <a:t>)</a:t>
            </a:r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55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49158" name="Line 6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475615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61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9162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9163" name="AutoShape 11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64" name="AutoShape 12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65" name="AutoShape 13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66" name="AutoShape 14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67" name="AutoShape 15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68" name="AutoShape 16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69" name="AutoShape 17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70" name="AutoShape 18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71" name="AutoShape 19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72" name="AutoShape 20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73" name="AutoShape 21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74" name="AutoShape 22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75" name="AutoShape 23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76" name="AutoShape 24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77" name="AutoShape 25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78" name="AutoShape 26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79" name="AutoShape 27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80" name="AutoShape 28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81" name="AutoShape 29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82" name="AutoShape 30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83" name="AutoShape 31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84" name="AutoShape 32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85" name="AutoShape 33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86" name="Text Box 34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</a:t>
            </a:r>
            <a:r>
              <a:rPr lang="en-GB" sz="1800" i="1"/>
              <a:t>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 flipV="1">
            <a:off x="2286000" y="838200"/>
            <a:ext cx="5257800" cy="434340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88" name="Line 36"/>
          <p:cNvSpPr>
            <a:spLocks noChangeShapeType="1"/>
          </p:cNvSpPr>
          <p:nvPr/>
        </p:nvSpPr>
        <p:spPr bwMode="auto">
          <a:xfrm>
            <a:off x="4876800" y="30480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89" name="Line 37"/>
          <p:cNvSpPr>
            <a:spLocks noChangeShapeType="1"/>
          </p:cNvSpPr>
          <p:nvPr/>
        </p:nvSpPr>
        <p:spPr bwMode="auto">
          <a:xfrm>
            <a:off x="2438400" y="30480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76200" y="2833688"/>
            <a:ext cx="2438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/>
              <a:t>Pr(</a:t>
            </a:r>
            <a:r>
              <a:rPr lang="en-GB" sz="1800" i="1"/>
              <a:t>y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 i="1"/>
              <a:t>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/>
              <a:t>)</a:t>
            </a:r>
            <a:r>
              <a:rPr lang="en-GB" sz="1800" i="1"/>
              <a:t>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 </a:t>
            </a:r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</a:p>
        </p:txBody>
      </p:sp>
      <p:sp>
        <p:nvSpPr>
          <p:cNvPr id="49191" name="Rectangle 39"/>
          <p:cNvSpPr>
            <a:spLocks noChangeArrowheads="1"/>
          </p:cNvSpPr>
          <p:nvPr/>
        </p:nvSpPr>
        <p:spPr bwMode="auto">
          <a:xfrm>
            <a:off x="1841500" y="27432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9192" name="Rectangle 40"/>
          <p:cNvSpPr>
            <a:spLocks noChangeArrowheads="1"/>
          </p:cNvSpPr>
          <p:nvPr/>
        </p:nvSpPr>
        <p:spPr bwMode="auto">
          <a:xfrm>
            <a:off x="1524000" y="27432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9193" name="Rectangle 41"/>
          <p:cNvSpPr>
            <a:spLocks noChangeArrowheads="1"/>
          </p:cNvSpPr>
          <p:nvPr/>
        </p:nvSpPr>
        <p:spPr bwMode="auto">
          <a:xfrm>
            <a:off x="152400" y="2735263"/>
            <a:ext cx="368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9194" name="Line 42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55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240665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3563" name="AutoShape 11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64" name="AutoShape 12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65" name="AutoShape 13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66" name="AutoShape 14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67" name="AutoShape 15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68" name="AutoShape 16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69" name="AutoShape 17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70" name="AutoShape 18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71" name="AutoShape 19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72" name="AutoShape 20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73" name="AutoShape 21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74" name="AutoShape 22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75" name="AutoShape 23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76" name="AutoShape 24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77" name="AutoShape 25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78" name="AutoShape 26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79" name="AutoShape 27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80" name="AutoShape 28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81" name="AutoShape 29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82" name="AutoShape 30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83" name="AutoShape 31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84" name="AutoShape 32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85" name="AutoShape 33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86" name="Text Box 34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</a:t>
            </a:r>
            <a:r>
              <a:rPr lang="en-GB" sz="1800" i="1"/>
              <a:t>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 flipV="1">
            <a:off x="2286000" y="838200"/>
            <a:ext cx="5257800" cy="434340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88" name="Line 36"/>
          <p:cNvSpPr>
            <a:spLocks noChangeShapeType="1"/>
          </p:cNvSpPr>
          <p:nvPr/>
        </p:nvSpPr>
        <p:spPr bwMode="auto">
          <a:xfrm>
            <a:off x="2667000" y="41910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89" name="Line 37"/>
          <p:cNvSpPr>
            <a:spLocks noChangeShapeType="1"/>
          </p:cNvSpPr>
          <p:nvPr/>
        </p:nvSpPr>
        <p:spPr bwMode="auto">
          <a:xfrm>
            <a:off x="2438400" y="4876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590" name="Text Box 38"/>
          <p:cNvSpPr txBox="1">
            <a:spLocks noChangeArrowheads="1"/>
          </p:cNvSpPr>
          <p:nvPr/>
        </p:nvSpPr>
        <p:spPr bwMode="auto">
          <a:xfrm>
            <a:off x="76200" y="4662488"/>
            <a:ext cx="2438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/>
              <a:t>Pr(</a:t>
            </a:r>
            <a:r>
              <a:rPr lang="en-GB" sz="1800" i="1"/>
              <a:t>y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 i="1"/>
              <a:t>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/>
              <a:t>)</a:t>
            </a:r>
            <a:r>
              <a:rPr lang="en-GB" sz="1800" i="1"/>
              <a:t> &lt;</a:t>
            </a:r>
            <a:r>
              <a:rPr lang="en-GB" sz="1800"/>
              <a:t>0</a:t>
            </a:r>
            <a:endParaRPr lang="en-GB" sz="1800" baseline="-25000">
              <a:latin typeface="Symbol" pitchFamily="18" charset="2"/>
            </a:endParaRPr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469900" y="4564063"/>
            <a:ext cx="368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07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924050" y="76200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697865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1515" name="AutoShape 11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16" name="AutoShape 12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17" name="AutoShape 13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18" name="AutoShape 14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19" name="AutoShape 15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20" name="AutoShape 16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21" name="AutoShape 17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22" name="AutoShape 18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23" name="AutoShape 19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24" name="AutoShape 20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25" name="AutoShape 21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26" name="AutoShape 22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27" name="AutoShape 23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28" name="AutoShape 24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29" name="AutoShape 25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30" name="AutoShape 26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31" name="AutoShape 27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32" name="AutoShape 28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33" name="AutoShape 29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34" name="AutoShape 30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35" name="AutoShape 31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36" name="AutoShape 32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37" name="AutoShape 33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38" name="Text Box 34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</a:t>
            </a:r>
            <a:r>
              <a:rPr lang="en-GB" sz="1800" i="1"/>
              <a:t>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</a:p>
        </p:txBody>
      </p:sp>
      <p:sp>
        <p:nvSpPr>
          <p:cNvPr id="21539" name="Line 35"/>
          <p:cNvSpPr>
            <a:spLocks noChangeShapeType="1"/>
          </p:cNvSpPr>
          <p:nvPr/>
        </p:nvSpPr>
        <p:spPr bwMode="auto">
          <a:xfrm flipV="1">
            <a:off x="2286000" y="838200"/>
            <a:ext cx="5257800" cy="4343400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40" name="Line 36"/>
          <p:cNvSpPr>
            <a:spLocks noChangeShapeType="1"/>
          </p:cNvSpPr>
          <p:nvPr/>
        </p:nvSpPr>
        <p:spPr bwMode="auto">
          <a:xfrm>
            <a:off x="7086600" y="1219200"/>
            <a:ext cx="0" cy="2971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41" name="Line 37"/>
          <p:cNvSpPr>
            <a:spLocks noChangeShapeType="1"/>
          </p:cNvSpPr>
          <p:nvPr/>
        </p:nvSpPr>
        <p:spPr bwMode="auto">
          <a:xfrm>
            <a:off x="2438400" y="1219200"/>
            <a:ext cx="4648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46" name="Line 42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547" name="Text Box 43"/>
          <p:cNvSpPr txBox="1">
            <a:spLocks noChangeArrowheads="1"/>
          </p:cNvSpPr>
          <p:nvPr/>
        </p:nvSpPr>
        <p:spPr bwMode="auto">
          <a:xfrm>
            <a:off x="76200" y="1012825"/>
            <a:ext cx="2438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/>
              <a:t>Pr(</a:t>
            </a:r>
            <a:r>
              <a:rPr lang="en-GB" sz="1800" i="1"/>
              <a:t>y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 i="1"/>
              <a:t>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 baseline="-25000">
                <a:latin typeface="Symbol" pitchFamily="18" charset="2"/>
              </a:rPr>
              <a:t>i</a:t>
            </a:r>
            <a:r>
              <a:rPr lang="en-GB" sz="1800"/>
              <a:t>)</a:t>
            </a:r>
            <a:r>
              <a:rPr lang="en-GB" sz="1800" i="1"/>
              <a:t> &gt;</a:t>
            </a:r>
            <a:r>
              <a:rPr lang="en-GB" sz="1800"/>
              <a:t>1</a:t>
            </a:r>
            <a:endParaRPr lang="en-GB" sz="1800" baseline="-25000">
              <a:latin typeface="Symbol" pitchFamily="18" charset="2"/>
            </a:endParaRPr>
          </a:p>
        </p:txBody>
      </p:sp>
      <p:sp>
        <p:nvSpPr>
          <p:cNvPr id="21548" name="Rectangle 44"/>
          <p:cNvSpPr>
            <a:spLocks noChangeArrowheads="1"/>
          </p:cNvSpPr>
          <p:nvPr/>
        </p:nvSpPr>
        <p:spPr bwMode="auto">
          <a:xfrm>
            <a:off x="469900" y="914400"/>
            <a:ext cx="368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2531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1731963" y="39004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2570" name="Line 42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2573" name="Line 45"/>
          <p:cNvSpPr>
            <a:spLocks noChangeShapeType="1"/>
          </p:cNvSpPr>
          <p:nvPr/>
        </p:nvSpPr>
        <p:spPr bwMode="auto">
          <a:xfrm flipV="1">
            <a:off x="1905000" y="990600"/>
            <a:ext cx="5943600" cy="3657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2574" name="Text Box 46"/>
          <p:cNvSpPr txBox="1">
            <a:spLocks noChangeArrowheads="1"/>
          </p:cNvSpPr>
          <p:nvPr/>
        </p:nvSpPr>
        <p:spPr bwMode="auto">
          <a:xfrm>
            <a:off x="6172200" y="1919288"/>
            <a:ext cx="2743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LPM:  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</a:t>
            </a:r>
            <a:r>
              <a:rPr lang="en-GB" sz="1800" i="1"/>
              <a:t> = </a:t>
            </a:r>
            <a:r>
              <a:rPr lang="en-GB" sz="1800">
                <a:latin typeface="Symbol" pitchFamily="18" charset="2"/>
              </a:rPr>
              <a:t>b</a:t>
            </a:r>
            <a:r>
              <a:rPr lang="en-GB" sz="1800" baseline="-25000">
                <a:latin typeface="Symbol" pitchFamily="18" charset="2"/>
              </a:rPr>
              <a:t>1</a:t>
            </a:r>
            <a:r>
              <a:rPr lang="en-GB" sz="1800">
                <a:latin typeface="Symbol" pitchFamily="18" charset="2"/>
              </a:rPr>
              <a:t>+b</a:t>
            </a:r>
            <a:r>
              <a:rPr lang="en-GB" sz="1800" baseline="-25000">
                <a:latin typeface="Symbol" pitchFamily="18" charset="2"/>
              </a:rPr>
              <a:t>2</a:t>
            </a:r>
            <a:r>
              <a:rPr lang="en-GB" sz="1800" i="1"/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4579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1731963" y="41290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6324600" y="1797050"/>
            <a:ext cx="2743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 dirty="0" err="1"/>
              <a:t>Probit</a:t>
            </a:r>
            <a:r>
              <a:rPr lang="en-GB" sz="1800" i="1" dirty="0"/>
              <a:t>:  </a:t>
            </a:r>
          </a:p>
          <a:p>
            <a:r>
              <a:rPr lang="en-GB" sz="1800" i="1" dirty="0" err="1"/>
              <a:t>Pr</a:t>
            </a:r>
            <a:r>
              <a:rPr lang="en-GB" sz="1800" dirty="0"/>
              <a:t>(</a:t>
            </a:r>
            <a:r>
              <a:rPr lang="en-GB" sz="1800" i="1" dirty="0"/>
              <a:t>y=</a:t>
            </a:r>
            <a:r>
              <a:rPr lang="en-GB" sz="1800" dirty="0"/>
              <a:t>1</a:t>
            </a:r>
            <a:r>
              <a:rPr lang="en-GB" sz="1800" i="1" dirty="0"/>
              <a:t>| x</a:t>
            </a:r>
            <a:r>
              <a:rPr lang="en-GB" sz="1800" dirty="0"/>
              <a:t>)</a:t>
            </a:r>
            <a:r>
              <a:rPr lang="en-GB" sz="1800" i="1" dirty="0"/>
              <a:t> = </a:t>
            </a:r>
            <a:r>
              <a:rPr lang="en-GB" sz="1800" i="1" dirty="0" smtClean="0"/>
              <a:t>G</a:t>
            </a:r>
            <a:r>
              <a:rPr lang="en-GB" sz="1800" dirty="0" smtClean="0"/>
              <a:t>(</a:t>
            </a:r>
            <a:r>
              <a:rPr lang="en-GB" sz="1800" dirty="0" smtClean="0">
                <a:latin typeface="Symbol" pitchFamily="18" charset="2"/>
              </a:rPr>
              <a:t>b</a:t>
            </a:r>
            <a:r>
              <a:rPr lang="en-GB" sz="1800" baseline="-25000" dirty="0" smtClean="0">
                <a:latin typeface="Symbol" pitchFamily="18" charset="2"/>
              </a:rPr>
              <a:t>1</a:t>
            </a:r>
            <a:r>
              <a:rPr lang="en-GB" sz="1800" dirty="0" smtClean="0">
                <a:latin typeface="Symbol" pitchFamily="18" charset="2"/>
              </a:rPr>
              <a:t>+b</a:t>
            </a:r>
            <a:r>
              <a:rPr lang="en-GB" sz="1800" baseline="-25000" dirty="0" smtClean="0">
                <a:latin typeface="Symbol" pitchFamily="18" charset="2"/>
              </a:rPr>
              <a:t>2</a:t>
            </a:r>
            <a:r>
              <a:rPr lang="en-GB" sz="1800" i="1" dirty="0" smtClean="0"/>
              <a:t>x</a:t>
            </a:r>
            <a:r>
              <a:rPr lang="en-GB" sz="1800" dirty="0"/>
              <a:t>)</a:t>
            </a:r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4587" name="Freeform 11"/>
          <p:cNvSpPr>
            <a:spLocks/>
          </p:cNvSpPr>
          <p:nvPr/>
        </p:nvSpPr>
        <p:spPr bwMode="auto">
          <a:xfrm>
            <a:off x="152400" y="1600200"/>
            <a:ext cx="8077200" cy="25908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03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1731963" y="41290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13" name="AutoShape 13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14" name="AutoShape 14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15" name="AutoShape 15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16" name="AutoShape 16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17" name="AutoShape 17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18" name="AutoShape 18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19" name="AutoShape 19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20" name="AutoShape 20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21" name="AutoShape 21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22" name="AutoShape 22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23" name="AutoShape 23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24" name="AutoShape 24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25" name="AutoShape 25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26" name="AutoShape 26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27" name="AutoShape 27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28" name="AutoShape 28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29" name="AutoShape 29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30" name="AutoShape 30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31" name="AutoShape 31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32" name="AutoShape 32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33" name="AutoShape 33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34" name="AutoShape 34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35" name="AutoShape 35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36" name="Freeform 36"/>
          <p:cNvSpPr>
            <a:spLocks/>
          </p:cNvSpPr>
          <p:nvPr/>
        </p:nvSpPr>
        <p:spPr bwMode="auto">
          <a:xfrm>
            <a:off x="152400" y="1600200"/>
            <a:ext cx="8077200" cy="25908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37" name="Text Box 37"/>
          <p:cNvSpPr txBox="1">
            <a:spLocks noChangeArrowheads="1"/>
          </p:cNvSpPr>
          <p:nvPr/>
        </p:nvSpPr>
        <p:spPr bwMode="auto">
          <a:xfrm>
            <a:off x="6324600" y="1797050"/>
            <a:ext cx="2743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 dirty="0" err="1"/>
              <a:t>Probit</a:t>
            </a:r>
            <a:r>
              <a:rPr lang="en-GB" sz="1800" i="1" dirty="0"/>
              <a:t>:  </a:t>
            </a:r>
          </a:p>
          <a:p>
            <a:r>
              <a:rPr lang="en-GB" sz="1800" i="1" dirty="0" err="1"/>
              <a:t>Pr</a:t>
            </a:r>
            <a:r>
              <a:rPr lang="en-GB" sz="1800" dirty="0"/>
              <a:t>(</a:t>
            </a:r>
            <a:r>
              <a:rPr lang="en-GB" sz="1800" i="1" dirty="0"/>
              <a:t>y=</a:t>
            </a:r>
            <a:r>
              <a:rPr lang="en-GB" sz="1800" dirty="0"/>
              <a:t>1</a:t>
            </a:r>
            <a:r>
              <a:rPr lang="en-GB" sz="1800" i="1" dirty="0"/>
              <a:t>| x</a:t>
            </a:r>
            <a:r>
              <a:rPr lang="en-GB" sz="1800" dirty="0"/>
              <a:t>)</a:t>
            </a:r>
            <a:r>
              <a:rPr lang="en-GB" sz="1800" i="1" dirty="0"/>
              <a:t> = </a:t>
            </a:r>
            <a:r>
              <a:rPr lang="en-GB" sz="1800" i="1" dirty="0" smtClean="0"/>
              <a:t>G</a:t>
            </a:r>
            <a:r>
              <a:rPr lang="en-GB" sz="1800" dirty="0" smtClean="0"/>
              <a:t>(</a:t>
            </a:r>
            <a:r>
              <a:rPr lang="en-GB" sz="1800" dirty="0" smtClean="0">
                <a:latin typeface="Symbol" pitchFamily="18" charset="2"/>
              </a:rPr>
              <a:t>b</a:t>
            </a:r>
            <a:r>
              <a:rPr lang="en-GB" sz="1800" baseline="-25000" dirty="0" smtClean="0">
                <a:latin typeface="Symbol" pitchFamily="18" charset="2"/>
              </a:rPr>
              <a:t>1</a:t>
            </a:r>
            <a:r>
              <a:rPr lang="en-GB" sz="1800" dirty="0" smtClean="0">
                <a:latin typeface="Symbol" pitchFamily="18" charset="2"/>
              </a:rPr>
              <a:t>+b</a:t>
            </a:r>
            <a:r>
              <a:rPr lang="en-GB" sz="1800" baseline="-25000" dirty="0" smtClean="0">
                <a:latin typeface="Symbol" pitchFamily="18" charset="2"/>
              </a:rPr>
              <a:t>2</a:t>
            </a:r>
            <a:r>
              <a:rPr lang="en-GB" sz="1800" i="1" dirty="0" smtClean="0"/>
              <a:t>x</a:t>
            </a:r>
            <a:r>
              <a:rPr lang="en-GB" sz="18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27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1731963" y="41290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34" name="Freeform 10"/>
          <p:cNvSpPr>
            <a:spLocks/>
          </p:cNvSpPr>
          <p:nvPr/>
        </p:nvSpPr>
        <p:spPr bwMode="auto">
          <a:xfrm>
            <a:off x="457200" y="1676400"/>
            <a:ext cx="8077200" cy="24384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8575" cap="flat" cmpd="sng">
            <a:solidFill>
              <a:srgbClr val="339966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35" name="AutoShape 11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36" name="AutoShape 12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37" name="AutoShape 13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38" name="AutoShape 14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39" name="AutoShape 15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40" name="AutoShape 16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41" name="AutoShape 17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42" name="AutoShape 18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43" name="AutoShape 19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44" name="AutoShape 20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45" name="AutoShape 21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46" name="AutoShape 22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47" name="AutoShape 23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48" name="AutoShape 24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49" name="AutoShape 25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50" name="AutoShape 26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51" name="AutoShape 27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52" name="AutoShape 28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53" name="AutoShape 29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54" name="AutoShape 30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55" name="AutoShape 31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56" name="AutoShape 32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57" name="AutoShape 33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58" name="Freeform 34"/>
          <p:cNvSpPr>
            <a:spLocks/>
          </p:cNvSpPr>
          <p:nvPr/>
        </p:nvSpPr>
        <p:spPr bwMode="auto">
          <a:xfrm>
            <a:off x="152400" y="1600200"/>
            <a:ext cx="8077200" cy="25908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6659" name="Text Box 35"/>
          <p:cNvSpPr txBox="1">
            <a:spLocks noChangeArrowheads="1"/>
          </p:cNvSpPr>
          <p:nvPr/>
        </p:nvSpPr>
        <p:spPr bwMode="auto">
          <a:xfrm>
            <a:off x="6324600" y="1797050"/>
            <a:ext cx="2743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 dirty="0" err="1"/>
              <a:t>Probit</a:t>
            </a:r>
            <a:r>
              <a:rPr lang="en-GB" sz="1800" i="1" dirty="0"/>
              <a:t>:  </a:t>
            </a:r>
          </a:p>
          <a:p>
            <a:r>
              <a:rPr lang="en-GB" sz="1800" i="1" dirty="0" err="1"/>
              <a:t>Pr</a:t>
            </a:r>
            <a:r>
              <a:rPr lang="en-GB" sz="1800" dirty="0"/>
              <a:t>(</a:t>
            </a:r>
            <a:r>
              <a:rPr lang="en-GB" sz="1800" i="1" dirty="0"/>
              <a:t>y=</a:t>
            </a:r>
            <a:r>
              <a:rPr lang="en-GB" sz="1800" dirty="0"/>
              <a:t>1</a:t>
            </a:r>
            <a:r>
              <a:rPr lang="en-GB" sz="1800" i="1" dirty="0"/>
              <a:t>| x</a:t>
            </a:r>
            <a:r>
              <a:rPr lang="en-GB" sz="1800" dirty="0"/>
              <a:t>)</a:t>
            </a:r>
            <a:r>
              <a:rPr lang="en-GB" sz="1800" i="1" dirty="0"/>
              <a:t> = </a:t>
            </a:r>
            <a:r>
              <a:rPr lang="en-GB" sz="1800" i="1" dirty="0" smtClean="0"/>
              <a:t>G</a:t>
            </a:r>
            <a:r>
              <a:rPr lang="en-GB" sz="1800" dirty="0" smtClean="0"/>
              <a:t>(</a:t>
            </a:r>
            <a:r>
              <a:rPr lang="en-GB" sz="1800" dirty="0" smtClean="0">
                <a:latin typeface="Symbol" pitchFamily="18" charset="2"/>
              </a:rPr>
              <a:t>b</a:t>
            </a:r>
            <a:r>
              <a:rPr lang="en-GB" sz="1800" baseline="-25000" dirty="0" smtClean="0">
                <a:latin typeface="Symbol" pitchFamily="18" charset="2"/>
              </a:rPr>
              <a:t>1</a:t>
            </a:r>
            <a:r>
              <a:rPr lang="en-GB" sz="1800" dirty="0" smtClean="0">
                <a:latin typeface="Symbol" pitchFamily="18" charset="2"/>
              </a:rPr>
              <a:t>+b</a:t>
            </a:r>
            <a:r>
              <a:rPr lang="en-GB" sz="1800" baseline="-25000" dirty="0" smtClean="0">
                <a:latin typeface="Symbol" pitchFamily="18" charset="2"/>
              </a:rPr>
              <a:t>2</a:t>
            </a:r>
            <a:r>
              <a:rPr lang="en-GB" sz="1800" i="1" dirty="0" smtClean="0"/>
              <a:t>x</a:t>
            </a:r>
            <a:r>
              <a:rPr lang="en-GB" sz="18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51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1731963" y="41290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58" name="Freeform 10"/>
          <p:cNvSpPr>
            <a:spLocks/>
          </p:cNvSpPr>
          <p:nvPr/>
        </p:nvSpPr>
        <p:spPr bwMode="auto">
          <a:xfrm>
            <a:off x="457200" y="1676400"/>
            <a:ext cx="8077200" cy="24384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8575" cap="flat" cmpd="sng">
            <a:solidFill>
              <a:srgbClr val="339966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59" name="AutoShape 11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60" name="AutoShape 12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61" name="AutoShape 13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62" name="AutoShape 14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63" name="AutoShape 15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64" name="AutoShape 16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65" name="AutoShape 17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66" name="AutoShape 18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67" name="AutoShape 19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68" name="AutoShape 20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69" name="AutoShape 21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70" name="AutoShape 22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71" name="AutoShape 23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72" name="AutoShape 24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73" name="AutoShape 25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74" name="AutoShape 26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75" name="AutoShape 27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76" name="AutoShape 28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77" name="AutoShape 29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78" name="AutoShape 30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79" name="AutoShape 31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80" name="AutoShape 32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81" name="AutoShape 33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82" name="Freeform 34"/>
          <p:cNvSpPr>
            <a:spLocks/>
          </p:cNvSpPr>
          <p:nvPr/>
        </p:nvSpPr>
        <p:spPr bwMode="auto">
          <a:xfrm>
            <a:off x="152400" y="1600200"/>
            <a:ext cx="8077200" cy="25908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83" name="Line 35"/>
          <p:cNvSpPr>
            <a:spLocks noChangeShapeType="1"/>
          </p:cNvSpPr>
          <p:nvPr/>
        </p:nvSpPr>
        <p:spPr bwMode="auto">
          <a:xfrm>
            <a:off x="2438400" y="3048000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84" name="Text Box 36"/>
          <p:cNvSpPr txBox="1">
            <a:spLocks noChangeArrowheads="1"/>
          </p:cNvSpPr>
          <p:nvPr/>
        </p:nvSpPr>
        <p:spPr bwMode="auto">
          <a:xfrm>
            <a:off x="76200" y="2833688"/>
            <a:ext cx="2438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dirty="0" err="1"/>
              <a:t>Pr</a:t>
            </a:r>
            <a:r>
              <a:rPr lang="en-GB" sz="1800" dirty="0"/>
              <a:t>(</a:t>
            </a:r>
            <a:r>
              <a:rPr lang="en-GB" sz="1800" i="1" dirty="0" err="1"/>
              <a:t>y</a:t>
            </a:r>
            <a:r>
              <a:rPr lang="en-GB" sz="1800" baseline="-25000" dirty="0" err="1">
                <a:latin typeface="Symbol" pitchFamily="18" charset="2"/>
              </a:rPr>
              <a:t>i</a:t>
            </a:r>
            <a:r>
              <a:rPr lang="en-GB" sz="1800" i="1" dirty="0"/>
              <a:t>=</a:t>
            </a:r>
            <a:r>
              <a:rPr lang="en-GB" sz="1800" dirty="0"/>
              <a:t>1</a:t>
            </a:r>
            <a:r>
              <a:rPr lang="en-GB" sz="1800" i="1" dirty="0"/>
              <a:t>| x</a:t>
            </a:r>
            <a:r>
              <a:rPr lang="en-GB" sz="1800" baseline="-25000" dirty="0">
                <a:latin typeface="Symbol" pitchFamily="18" charset="2"/>
              </a:rPr>
              <a:t>i</a:t>
            </a:r>
            <a:r>
              <a:rPr lang="en-GB" sz="1800" dirty="0" smtClean="0"/>
              <a:t>)</a:t>
            </a:r>
            <a:r>
              <a:rPr lang="en-GB" sz="1800" i="1" dirty="0" smtClean="0"/>
              <a:t>=G</a:t>
            </a:r>
            <a:r>
              <a:rPr lang="en-GB" sz="1800" dirty="0" smtClean="0"/>
              <a:t>(</a:t>
            </a:r>
            <a:r>
              <a:rPr lang="en-GB" sz="1800" dirty="0" smtClean="0">
                <a:latin typeface="Symbol" pitchFamily="18" charset="2"/>
              </a:rPr>
              <a:t>b</a:t>
            </a:r>
            <a:r>
              <a:rPr lang="en-GB" sz="1800" baseline="-25000" dirty="0" smtClean="0">
                <a:latin typeface="Symbol" pitchFamily="18" charset="2"/>
              </a:rPr>
              <a:t>1</a:t>
            </a:r>
            <a:r>
              <a:rPr lang="en-GB" sz="1800" dirty="0" smtClean="0">
                <a:latin typeface="Symbol" pitchFamily="18" charset="2"/>
              </a:rPr>
              <a:t>+b</a:t>
            </a:r>
            <a:r>
              <a:rPr lang="en-GB" sz="1800" baseline="-25000" dirty="0" smtClean="0">
                <a:latin typeface="Symbol" pitchFamily="18" charset="2"/>
              </a:rPr>
              <a:t>2 </a:t>
            </a:r>
            <a:r>
              <a:rPr lang="en-GB" sz="1800" i="1" dirty="0"/>
              <a:t>x</a:t>
            </a:r>
            <a:r>
              <a:rPr lang="en-GB" sz="1800" baseline="-25000" dirty="0">
                <a:latin typeface="Symbol" pitchFamily="18" charset="2"/>
              </a:rPr>
              <a:t>i</a:t>
            </a:r>
            <a:r>
              <a:rPr lang="en-GB" sz="1800" dirty="0"/>
              <a:t>)</a:t>
            </a:r>
          </a:p>
        </p:txBody>
      </p:sp>
      <p:sp>
        <p:nvSpPr>
          <p:cNvPr id="27685" name="Rectangle 37"/>
          <p:cNvSpPr>
            <a:spLocks noChangeArrowheads="1"/>
          </p:cNvSpPr>
          <p:nvPr/>
        </p:nvSpPr>
        <p:spPr bwMode="auto">
          <a:xfrm>
            <a:off x="1841500" y="27432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7686" name="Rectangle 38"/>
          <p:cNvSpPr>
            <a:spLocks noChangeArrowheads="1"/>
          </p:cNvSpPr>
          <p:nvPr/>
        </p:nvSpPr>
        <p:spPr bwMode="auto">
          <a:xfrm>
            <a:off x="1524000" y="27432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7687" name="Rectangle 39"/>
          <p:cNvSpPr>
            <a:spLocks noChangeArrowheads="1"/>
          </p:cNvSpPr>
          <p:nvPr/>
        </p:nvSpPr>
        <p:spPr bwMode="auto">
          <a:xfrm>
            <a:off x="152400" y="2735263"/>
            <a:ext cx="368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7688" name="Line 40"/>
          <p:cNvSpPr>
            <a:spLocks noChangeShapeType="1"/>
          </p:cNvSpPr>
          <p:nvPr/>
        </p:nvSpPr>
        <p:spPr bwMode="auto">
          <a:xfrm>
            <a:off x="5105400" y="30480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7689" name="Rectangle 41"/>
          <p:cNvSpPr>
            <a:spLocks noChangeArrowheads="1"/>
          </p:cNvSpPr>
          <p:nvPr/>
        </p:nvSpPr>
        <p:spPr bwMode="auto">
          <a:xfrm>
            <a:off x="499745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7690" name="Text Box 42"/>
          <p:cNvSpPr txBox="1">
            <a:spLocks noChangeArrowheads="1"/>
          </p:cNvSpPr>
          <p:nvPr/>
        </p:nvSpPr>
        <p:spPr bwMode="auto">
          <a:xfrm>
            <a:off x="6324600" y="1797050"/>
            <a:ext cx="2743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 dirty="0" err="1"/>
              <a:t>Probit</a:t>
            </a:r>
            <a:r>
              <a:rPr lang="en-GB" sz="1800" i="1" dirty="0"/>
              <a:t>:  </a:t>
            </a:r>
          </a:p>
          <a:p>
            <a:r>
              <a:rPr lang="en-GB" sz="1800" i="1" dirty="0" err="1"/>
              <a:t>Pr</a:t>
            </a:r>
            <a:r>
              <a:rPr lang="en-GB" sz="1800" dirty="0"/>
              <a:t>(</a:t>
            </a:r>
            <a:r>
              <a:rPr lang="en-GB" sz="1800" i="1" dirty="0"/>
              <a:t>y=</a:t>
            </a:r>
            <a:r>
              <a:rPr lang="en-GB" sz="1800" dirty="0"/>
              <a:t>1</a:t>
            </a:r>
            <a:r>
              <a:rPr lang="en-GB" sz="1800" i="1" dirty="0"/>
              <a:t>| x</a:t>
            </a:r>
            <a:r>
              <a:rPr lang="en-GB" sz="1800" dirty="0"/>
              <a:t>)</a:t>
            </a:r>
            <a:r>
              <a:rPr lang="en-GB" sz="1800" i="1" dirty="0"/>
              <a:t> = </a:t>
            </a:r>
            <a:r>
              <a:rPr lang="en-GB" sz="1800" i="1" dirty="0" smtClean="0"/>
              <a:t>G</a:t>
            </a:r>
            <a:r>
              <a:rPr lang="en-GB" sz="1800" dirty="0" smtClean="0"/>
              <a:t>(</a:t>
            </a:r>
            <a:r>
              <a:rPr lang="en-GB" sz="1800" dirty="0" smtClean="0">
                <a:latin typeface="Symbol" pitchFamily="18" charset="2"/>
              </a:rPr>
              <a:t>b</a:t>
            </a:r>
            <a:r>
              <a:rPr lang="en-GB" sz="1800" baseline="-25000" dirty="0" smtClean="0">
                <a:latin typeface="Symbol" pitchFamily="18" charset="2"/>
              </a:rPr>
              <a:t>1</a:t>
            </a:r>
            <a:r>
              <a:rPr lang="en-GB" sz="1800" dirty="0" smtClean="0">
                <a:latin typeface="Symbol" pitchFamily="18" charset="2"/>
              </a:rPr>
              <a:t>+b</a:t>
            </a:r>
            <a:r>
              <a:rPr lang="en-GB" sz="1800" baseline="-25000" dirty="0" smtClean="0">
                <a:latin typeface="Symbol" pitchFamily="18" charset="2"/>
              </a:rPr>
              <a:t>2</a:t>
            </a:r>
            <a:r>
              <a:rPr lang="en-GB" sz="1800" i="1" dirty="0" smtClean="0"/>
              <a:t>x</a:t>
            </a:r>
            <a:r>
              <a:rPr lang="en-GB" sz="18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75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1731963" y="41290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1828800" y="1385888"/>
            <a:ext cx="554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2" name="Freeform 10"/>
          <p:cNvSpPr>
            <a:spLocks/>
          </p:cNvSpPr>
          <p:nvPr/>
        </p:nvSpPr>
        <p:spPr bwMode="auto">
          <a:xfrm>
            <a:off x="457200" y="1676400"/>
            <a:ext cx="8077200" cy="24384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8575" cap="flat" cmpd="sng">
            <a:solidFill>
              <a:srgbClr val="339966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3" name="AutoShape 11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4" name="AutoShape 12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5" name="AutoShape 13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6" name="AutoShape 14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7" name="AutoShape 15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8" name="AutoShape 16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89" name="AutoShape 17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0" name="AutoShape 18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1" name="AutoShape 19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2" name="AutoShape 20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3" name="AutoShape 21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4" name="AutoShape 22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5" name="AutoShape 23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6" name="AutoShape 24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7" name="AutoShape 25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8" name="AutoShape 26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99" name="AutoShape 27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0" name="AutoShape 28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1" name="AutoShape 29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2" name="AutoShape 30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3" name="AutoShape 31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4" name="AutoShape 32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5" name="AutoShape 33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6" name="Freeform 34"/>
          <p:cNvSpPr>
            <a:spLocks/>
          </p:cNvSpPr>
          <p:nvPr/>
        </p:nvSpPr>
        <p:spPr bwMode="auto">
          <a:xfrm>
            <a:off x="152400" y="1600200"/>
            <a:ext cx="8077200" cy="25908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7" name="Line 35"/>
          <p:cNvSpPr>
            <a:spLocks noChangeShapeType="1"/>
          </p:cNvSpPr>
          <p:nvPr/>
        </p:nvSpPr>
        <p:spPr bwMode="auto">
          <a:xfrm>
            <a:off x="2438400" y="2286000"/>
            <a:ext cx="3505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08" name="Text Box 36"/>
          <p:cNvSpPr txBox="1">
            <a:spLocks noChangeArrowheads="1"/>
          </p:cNvSpPr>
          <p:nvPr/>
        </p:nvSpPr>
        <p:spPr bwMode="auto">
          <a:xfrm>
            <a:off x="76200" y="2071688"/>
            <a:ext cx="2438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dirty="0" err="1"/>
              <a:t>Pr</a:t>
            </a:r>
            <a:r>
              <a:rPr lang="en-GB" sz="1800" dirty="0"/>
              <a:t>(</a:t>
            </a:r>
            <a:r>
              <a:rPr lang="en-GB" sz="1800" i="1" dirty="0" err="1"/>
              <a:t>y</a:t>
            </a:r>
            <a:r>
              <a:rPr lang="en-GB" sz="1800" baseline="-25000" dirty="0" err="1">
                <a:latin typeface="Symbol" pitchFamily="18" charset="2"/>
              </a:rPr>
              <a:t>i</a:t>
            </a:r>
            <a:r>
              <a:rPr lang="en-GB" sz="1800" i="1" dirty="0"/>
              <a:t>=</a:t>
            </a:r>
            <a:r>
              <a:rPr lang="en-GB" sz="1800" dirty="0"/>
              <a:t>1</a:t>
            </a:r>
            <a:r>
              <a:rPr lang="en-GB" sz="1800" i="1" dirty="0"/>
              <a:t>| x</a:t>
            </a:r>
            <a:r>
              <a:rPr lang="en-GB" sz="1800" baseline="-25000" dirty="0">
                <a:latin typeface="Symbol" pitchFamily="18" charset="2"/>
              </a:rPr>
              <a:t>i</a:t>
            </a:r>
            <a:r>
              <a:rPr lang="en-GB" sz="1800" dirty="0" smtClean="0"/>
              <a:t>)</a:t>
            </a:r>
            <a:r>
              <a:rPr lang="en-GB" sz="1800" i="1" dirty="0" smtClean="0"/>
              <a:t>=G</a:t>
            </a:r>
            <a:r>
              <a:rPr lang="en-GB" sz="1800" dirty="0" smtClean="0"/>
              <a:t>(</a:t>
            </a:r>
            <a:r>
              <a:rPr lang="en-GB" sz="1800" dirty="0" smtClean="0">
                <a:latin typeface="Symbol" pitchFamily="18" charset="2"/>
              </a:rPr>
              <a:t>b</a:t>
            </a:r>
            <a:r>
              <a:rPr lang="en-GB" sz="1800" baseline="-25000" dirty="0" smtClean="0">
                <a:latin typeface="Symbol" pitchFamily="18" charset="2"/>
              </a:rPr>
              <a:t>1</a:t>
            </a:r>
            <a:r>
              <a:rPr lang="en-GB" sz="1800" dirty="0" smtClean="0">
                <a:latin typeface="Symbol" pitchFamily="18" charset="2"/>
              </a:rPr>
              <a:t>+b</a:t>
            </a:r>
            <a:r>
              <a:rPr lang="en-GB" sz="1800" baseline="-25000" dirty="0" smtClean="0">
                <a:latin typeface="Symbol" pitchFamily="18" charset="2"/>
              </a:rPr>
              <a:t>2 </a:t>
            </a:r>
            <a:r>
              <a:rPr lang="en-GB" sz="1800" i="1" dirty="0"/>
              <a:t>x</a:t>
            </a:r>
            <a:r>
              <a:rPr lang="en-GB" sz="1800" baseline="-25000" dirty="0">
                <a:latin typeface="Symbol" pitchFamily="18" charset="2"/>
              </a:rPr>
              <a:t>i</a:t>
            </a:r>
            <a:r>
              <a:rPr lang="en-GB" sz="1800" dirty="0"/>
              <a:t>)</a:t>
            </a:r>
          </a:p>
        </p:txBody>
      </p:sp>
      <p:sp>
        <p:nvSpPr>
          <p:cNvPr id="28709" name="Rectangle 37"/>
          <p:cNvSpPr>
            <a:spLocks noChangeArrowheads="1"/>
          </p:cNvSpPr>
          <p:nvPr/>
        </p:nvSpPr>
        <p:spPr bwMode="auto">
          <a:xfrm>
            <a:off x="1841500" y="19812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8710" name="Rectangle 38"/>
          <p:cNvSpPr>
            <a:spLocks noChangeArrowheads="1"/>
          </p:cNvSpPr>
          <p:nvPr/>
        </p:nvSpPr>
        <p:spPr bwMode="auto">
          <a:xfrm>
            <a:off x="1524000" y="19812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8711" name="Rectangle 39"/>
          <p:cNvSpPr>
            <a:spLocks noChangeArrowheads="1"/>
          </p:cNvSpPr>
          <p:nvPr/>
        </p:nvSpPr>
        <p:spPr bwMode="auto">
          <a:xfrm>
            <a:off x="152400" y="1973263"/>
            <a:ext cx="368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8712" name="Line 40"/>
          <p:cNvSpPr>
            <a:spLocks noChangeShapeType="1"/>
          </p:cNvSpPr>
          <p:nvPr/>
        </p:nvSpPr>
        <p:spPr bwMode="auto">
          <a:xfrm>
            <a:off x="59436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713" name="Rectangle 41"/>
          <p:cNvSpPr>
            <a:spLocks noChangeArrowheads="1"/>
          </p:cNvSpPr>
          <p:nvPr/>
        </p:nvSpPr>
        <p:spPr bwMode="auto">
          <a:xfrm>
            <a:off x="579120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8714" name="Text Box 42"/>
          <p:cNvSpPr txBox="1">
            <a:spLocks noChangeArrowheads="1"/>
          </p:cNvSpPr>
          <p:nvPr/>
        </p:nvSpPr>
        <p:spPr bwMode="auto">
          <a:xfrm>
            <a:off x="6324600" y="1797050"/>
            <a:ext cx="2743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 dirty="0" err="1"/>
              <a:t>Probit</a:t>
            </a:r>
            <a:r>
              <a:rPr lang="en-GB" sz="1800" i="1" dirty="0"/>
              <a:t>:  </a:t>
            </a:r>
          </a:p>
          <a:p>
            <a:r>
              <a:rPr lang="en-GB" sz="1800" i="1" dirty="0" err="1"/>
              <a:t>Pr</a:t>
            </a:r>
            <a:r>
              <a:rPr lang="en-GB" sz="1800" dirty="0"/>
              <a:t>(</a:t>
            </a:r>
            <a:r>
              <a:rPr lang="en-GB" sz="1800" i="1" dirty="0"/>
              <a:t>y=</a:t>
            </a:r>
            <a:r>
              <a:rPr lang="en-GB" sz="1800" dirty="0"/>
              <a:t>1</a:t>
            </a:r>
            <a:r>
              <a:rPr lang="en-GB" sz="1800" i="1" dirty="0"/>
              <a:t>| x</a:t>
            </a:r>
            <a:r>
              <a:rPr lang="en-GB" sz="1800" dirty="0"/>
              <a:t>)</a:t>
            </a:r>
            <a:r>
              <a:rPr lang="en-GB" sz="1800" i="1" dirty="0"/>
              <a:t> = </a:t>
            </a:r>
            <a:r>
              <a:rPr lang="en-GB" sz="1800" i="1" dirty="0" smtClean="0"/>
              <a:t>G</a:t>
            </a:r>
            <a:r>
              <a:rPr lang="en-GB" sz="1800" dirty="0" smtClean="0"/>
              <a:t>(</a:t>
            </a:r>
            <a:r>
              <a:rPr lang="en-GB" sz="1800" dirty="0" smtClean="0">
                <a:latin typeface="Symbol" pitchFamily="18" charset="2"/>
              </a:rPr>
              <a:t>b</a:t>
            </a:r>
            <a:r>
              <a:rPr lang="en-GB" sz="1800" baseline="-25000" dirty="0" smtClean="0">
                <a:latin typeface="Symbol" pitchFamily="18" charset="2"/>
              </a:rPr>
              <a:t>1</a:t>
            </a:r>
            <a:r>
              <a:rPr lang="en-GB" sz="1800" dirty="0" smtClean="0">
                <a:latin typeface="Symbol" pitchFamily="18" charset="2"/>
              </a:rPr>
              <a:t>+b</a:t>
            </a:r>
            <a:r>
              <a:rPr lang="en-GB" sz="1800" baseline="-25000" dirty="0" smtClean="0">
                <a:latin typeface="Symbol" pitchFamily="18" charset="2"/>
              </a:rPr>
              <a:t>2</a:t>
            </a:r>
            <a:r>
              <a:rPr lang="en-GB" sz="1800" i="1" dirty="0" smtClean="0"/>
              <a:t>x</a:t>
            </a:r>
            <a:r>
              <a:rPr lang="en-GB" sz="18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7924800" y="4191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i="1"/>
              <a:t>x</a:t>
            </a:r>
            <a:endParaRPr lang="en-GB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905000" y="806450"/>
            <a:ext cx="285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y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1731963" y="4129088"/>
            <a:ext cx="554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2438400" y="1219200"/>
            <a:ext cx="554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y=</a:t>
            </a:r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06" name="Freeform 10"/>
          <p:cNvSpPr>
            <a:spLocks/>
          </p:cNvSpPr>
          <p:nvPr/>
        </p:nvSpPr>
        <p:spPr bwMode="auto">
          <a:xfrm>
            <a:off x="457200" y="1676400"/>
            <a:ext cx="8077200" cy="24384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8575" cap="flat" cmpd="sng">
            <a:solidFill>
              <a:srgbClr val="339966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07" name="AutoShape 11"/>
          <p:cNvSpPr>
            <a:spLocks noChangeArrowheads="1"/>
          </p:cNvSpPr>
          <p:nvPr/>
        </p:nvSpPr>
        <p:spPr bwMode="auto">
          <a:xfrm>
            <a:off x="5562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08" name="AutoShape 12"/>
          <p:cNvSpPr>
            <a:spLocks noChangeArrowheads="1"/>
          </p:cNvSpPr>
          <p:nvPr/>
        </p:nvSpPr>
        <p:spPr bwMode="auto">
          <a:xfrm>
            <a:off x="6292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09" name="AutoShape 13"/>
          <p:cNvSpPr>
            <a:spLocks noChangeArrowheads="1"/>
          </p:cNvSpPr>
          <p:nvPr/>
        </p:nvSpPr>
        <p:spPr bwMode="auto">
          <a:xfrm>
            <a:off x="66738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10" name="AutoShape 14"/>
          <p:cNvSpPr>
            <a:spLocks noChangeArrowheads="1"/>
          </p:cNvSpPr>
          <p:nvPr/>
        </p:nvSpPr>
        <p:spPr bwMode="auto">
          <a:xfrm>
            <a:off x="4692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11" name="AutoShape 15"/>
          <p:cNvSpPr>
            <a:spLocks noChangeArrowheads="1"/>
          </p:cNvSpPr>
          <p:nvPr/>
        </p:nvSpPr>
        <p:spPr bwMode="auto">
          <a:xfrm>
            <a:off x="5302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12" name="AutoShape 16"/>
          <p:cNvSpPr>
            <a:spLocks noChangeArrowheads="1"/>
          </p:cNvSpPr>
          <p:nvPr/>
        </p:nvSpPr>
        <p:spPr bwMode="auto">
          <a:xfrm>
            <a:off x="40386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13" name="AutoShape 17"/>
          <p:cNvSpPr>
            <a:spLocks noChangeArrowheads="1"/>
          </p:cNvSpPr>
          <p:nvPr/>
        </p:nvSpPr>
        <p:spPr bwMode="auto">
          <a:xfrm>
            <a:off x="69786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14" name="AutoShape 18"/>
          <p:cNvSpPr>
            <a:spLocks noChangeArrowheads="1"/>
          </p:cNvSpPr>
          <p:nvPr/>
        </p:nvSpPr>
        <p:spPr bwMode="auto">
          <a:xfrm>
            <a:off x="7207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15" name="AutoShape 19"/>
          <p:cNvSpPr>
            <a:spLocks noChangeArrowheads="1"/>
          </p:cNvSpPr>
          <p:nvPr/>
        </p:nvSpPr>
        <p:spPr bwMode="auto">
          <a:xfrm>
            <a:off x="58801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16" name="AutoShape 20"/>
          <p:cNvSpPr>
            <a:spLocks noChangeArrowheads="1"/>
          </p:cNvSpPr>
          <p:nvPr/>
        </p:nvSpPr>
        <p:spPr bwMode="auto">
          <a:xfrm>
            <a:off x="648970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17" name="AutoShape 21"/>
          <p:cNvSpPr>
            <a:spLocks noChangeArrowheads="1"/>
          </p:cNvSpPr>
          <p:nvPr/>
        </p:nvSpPr>
        <p:spPr bwMode="auto">
          <a:xfrm>
            <a:off x="7588250" y="15240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18" name="AutoShape 22"/>
          <p:cNvSpPr>
            <a:spLocks noChangeArrowheads="1"/>
          </p:cNvSpPr>
          <p:nvPr/>
        </p:nvSpPr>
        <p:spPr bwMode="auto">
          <a:xfrm>
            <a:off x="3962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19" name="AutoShape 23"/>
          <p:cNvSpPr>
            <a:spLocks noChangeArrowheads="1"/>
          </p:cNvSpPr>
          <p:nvPr/>
        </p:nvSpPr>
        <p:spPr bwMode="auto">
          <a:xfrm>
            <a:off x="4692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20" name="AutoShape 24"/>
          <p:cNvSpPr>
            <a:spLocks noChangeArrowheads="1"/>
          </p:cNvSpPr>
          <p:nvPr/>
        </p:nvSpPr>
        <p:spPr bwMode="auto">
          <a:xfrm>
            <a:off x="50736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21" name="AutoShape 25"/>
          <p:cNvSpPr>
            <a:spLocks noChangeArrowheads="1"/>
          </p:cNvSpPr>
          <p:nvPr/>
        </p:nvSpPr>
        <p:spPr bwMode="auto">
          <a:xfrm>
            <a:off x="4419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22" name="AutoShape 26"/>
          <p:cNvSpPr>
            <a:spLocks noChangeArrowheads="1"/>
          </p:cNvSpPr>
          <p:nvPr/>
        </p:nvSpPr>
        <p:spPr bwMode="auto">
          <a:xfrm>
            <a:off x="48006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23" name="AutoShape 27"/>
          <p:cNvSpPr>
            <a:spLocks noChangeArrowheads="1"/>
          </p:cNvSpPr>
          <p:nvPr/>
        </p:nvSpPr>
        <p:spPr bwMode="auto">
          <a:xfrm>
            <a:off x="30924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24" name="AutoShape 28"/>
          <p:cNvSpPr>
            <a:spLocks noChangeArrowheads="1"/>
          </p:cNvSpPr>
          <p:nvPr/>
        </p:nvSpPr>
        <p:spPr bwMode="auto">
          <a:xfrm>
            <a:off x="3702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25" name="AutoShape 29"/>
          <p:cNvSpPr>
            <a:spLocks noChangeArrowheads="1"/>
          </p:cNvSpPr>
          <p:nvPr/>
        </p:nvSpPr>
        <p:spPr bwMode="auto">
          <a:xfrm>
            <a:off x="24384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26" name="AutoShape 30"/>
          <p:cNvSpPr>
            <a:spLocks noChangeArrowheads="1"/>
          </p:cNvSpPr>
          <p:nvPr/>
        </p:nvSpPr>
        <p:spPr bwMode="auto">
          <a:xfrm>
            <a:off x="51498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27" name="AutoShape 31"/>
          <p:cNvSpPr>
            <a:spLocks noChangeArrowheads="1"/>
          </p:cNvSpPr>
          <p:nvPr/>
        </p:nvSpPr>
        <p:spPr bwMode="auto">
          <a:xfrm>
            <a:off x="560705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28" name="AutoShape 32"/>
          <p:cNvSpPr>
            <a:spLocks noChangeArrowheads="1"/>
          </p:cNvSpPr>
          <p:nvPr/>
        </p:nvSpPr>
        <p:spPr bwMode="auto">
          <a:xfrm>
            <a:off x="42799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29" name="AutoShape 33"/>
          <p:cNvSpPr>
            <a:spLocks noChangeArrowheads="1"/>
          </p:cNvSpPr>
          <p:nvPr/>
        </p:nvSpPr>
        <p:spPr bwMode="auto">
          <a:xfrm>
            <a:off x="4889500" y="4114800"/>
            <a:ext cx="107950" cy="107950"/>
          </a:xfrm>
          <a:prstGeom prst="flowChartSummingJunction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30" name="Freeform 34"/>
          <p:cNvSpPr>
            <a:spLocks/>
          </p:cNvSpPr>
          <p:nvPr/>
        </p:nvSpPr>
        <p:spPr bwMode="auto">
          <a:xfrm>
            <a:off x="152400" y="1600200"/>
            <a:ext cx="8077200" cy="25908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31" name="Line 35"/>
          <p:cNvSpPr>
            <a:spLocks noChangeShapeType="1"/>
          </p:cNvSpPr>
          <p:nvPr/>
        </p:nvSpPr>
        <p:spPr bwMode="auto">
          <a:xfrm>
            <a:off x="2438400" y="1752600"/>
            <a:ext cx="4953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32" name="Text Box 36"/>
          <p:cNvSpPr txBox="1">
            <a:spLocks noChangeArrowheads="1"/>
          </p:cNvSpPr>
          <p:nvPr/>
        </p:nvSpPr>
        <p:spPr bwMode="auto">
          <a:xfrm>
            <a:off x="76200" y="1538288"/>
            <a:ext cx="2438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dirty="0" err="1"/>
              <a:t>Pr</a:t>
            </a:r>
            <a:r>
              <a:rPr lang="en-GB" sz="1800" dirty="0"/>
              <a:t>(</a:t>
            </a:r>
            <a:r>
              <a:rPr lang="en-GB" sz="1800" i="1" dirty="0" err="1"/>
              <a:t>y</a:t>
            </a:r>
            <a:r>
              <a:rPr lang="en-GB" sz="1800" baseline="-25000" dirty="0" err="1">
                <a:latin typeface="Symbol" pitchFamily="18" charset="2"/>
              </a:rPr>
              <a:t>i</a:t>
            </a:r>
            <a:r>
              <a:rPr lang="en-GB" sz="1800" i="1" dirty="0"/>
              <a:t>=</a:t>
            </a:r>
            <a:r>
              <a:rPr lang="en-GB" sz="1800" dirty="0"/>
              <a:t>1</a:t>
            </a:r>
            <a:r>
              <a:rPr lang="en-GB" sz="1800" i="1" dirty="0"/>
              <a:t>| x</a:t>
            </a:r>
            <a:r>
              <a:rPr lang="en-GB" sz="1800" baseline="-25000" dirty="0">
                <a:latin typeface="Symbol" pitchFamily="18" charset="2"/>
              </a:rPr>
              <a:t>i</a:t>
            </a:r>
            <a:r>
              <a:rPr lang="en-GB" sz="1800" dirty="0" smtClean="0"/>
              <a:t>)</a:t>
            </a:r>
            <a:r>
              <a:rPr lang="en-GB" sz="1800" i="1" dirty="0" smtClean="0"/>
              <a:t>=G</a:t>
            </a:r>
            <a:r>
              <a:rPr lang="en-GB" sz="1800" dirty="0" smtClean="0"/>
              <a:t>(</a:t>
            </a:r>
            <a:r>
              <a:rPr lang="en-GB" sz="1800" dirty="0" smtClean="0">
                <a:latin typeface="Symbol" pitchFamily="18" charset="2"/>
              </a:rPr>
              <a:t>b</a:t>
            </a:r>
            <a:r>
              <a:rPr lang="en-GB" sz="1800" baseline="-25000" dirty="0" smtClean="0">
                <a:latin typeface="Symbol" pitchFamily="18" charset="2"/>
              </a:rPr>
              <a:t>1</a:t>
            </a:r>
            <a:r>
              <a:rPr lang="en-GB" sz="1800" dirty="0" smtClean="0">
                <a:latin typeface="Symbol" pitchFamily="18" charset="2"/>
              </a:rPr>
              <a:t>+b</a:t>
            </a:r>
            <a:r>
              <a:rPr lang="en-GB" sz="1800" baseline="-25000" dirty="0" smtClean="0">
                <a:latin typeface="Symbol" pitchFamily="18" charset="2"/>
              </a:rPr>
              <a:t>2 </a:t>
            </a:r>
            <a:r>
              <a:rPr lang="en-GB" sz="1800" i="1" dirty="0"/>
              <a:t>x</a:t>
            </a:r>
            <a:r>
              <a:rPr lang="en-GB" sz="1800" baseline="-25000" dirty="0">
                <a:latin typeface="Symbol" pitchFamily="18" charset="2"/>
              </a:rPr>
              <a:t>i</a:t>
            </a:r>
            <a:r>
              <a:rPr lang="en-GB" sz="1800" dirty="0"/>
              <a:t>)</a:t>
            </a:r>
          </a:p>
        </p:txBody>
      </p:sp>
      <p:sp>
        <p:nvSpPr>
          <p:cNvPr id="29733" name="Rectangle 37"/>
          <p:cNvSpPr>
            <a:spLocks noChangeArrowheads="1"/>
          </p:cNvSpPr>
          <p:nvPr/>
        </p:nvSpPr>
        <p:spPr bwMode="auto">
          <a:xfrm>
            <a:off x="1841500" y="14478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9734" name="Rectangle 38"/>
          <p:cNvSpPr>
            <a:spLocks noChangeArrowheads="1"/>
          </p:cNvSpPr>
          <p:nvPr/>
        </p:nvSpPr>
        <p:spPr bwMode="auto">
          <a:xfrm>
            <a:off x="1524000" y="14478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9735" name="Rectangle 39"/>
          <p:cNvSpPr>
            <a:spLocks noChangeArrowheads="1"/>
          </p:cNvSpPr>
          <p:nvPr/>
        </p:nvSpPr>
        <p:spPr bwMode="auto">
          <a:xfrm>
            <a:off x="152400" y="1439863"/>
            <a:ext cx="368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/>
              <a:t>^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9736" name="Line 40"/>
          <p:cNvSpPr>
            <a:spLocks noChangeShapeType="1"/>
          </p:cNvSpPr>
          <p:nvPr/>
        </p:nvSpPr>
        <p:spPr bwMode="auto">
          <a:xfrm>
            <a:off x="7391400" y="1752600"/>
            <a:ext cx="0" cy="2438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9737" name="Rectangle 41"/>
          <p:cNvSpPr>
            <a:spLocks noChangeArrowheads="1"/>
          </p:cNvSpPr>
          <p:nvPr/>
        </p:nvSpPr>
        <p:spPr bwMode="auto">
          <a:xfrm>
            <a:off x="723900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29738" name="Text Box 42"/>
          <p:cNvSpPr txBox="1">
            <a:spLocks noChangeArrowheads="1"/>
          </p:cNvSpPr>
          <p:nvPr/>
        </p:nvSpPr>
        <p:spPr bwMode="auto">
          <a:xfrm>
            <a:off x="6324600" y="1797050"/>
            <a:ext cx="2743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 dirty="0" err="1"/>
              <a:t>Probit</a:t>
            </a:r>
            <a:r>
              <a:rPr lang="en-GB" sz="1800" i="1" dirty="0"/>
              <a:t>:  </a:t>
            </a:r>
          </a:p>
          <a:p>
            <a:r>
              <a:rPr lang="en-GB" sz="1800" i="1" dirty="0" err="1"/>
              <a:t>Pr</a:t>
            </a:r>
            <a:r>
              <a:rPr lang="en-GB" sz="1800" dirty="0"/>
              <a:t>(</a:t>
            </a:r>
            <a:r>
              <a:rPr lang="en-GB" sz="1800" i="1" dirty="0"/>
              <a:t>y=</a:t>
            </a:r>
            <a:r>
              <a:rPr lang="en-GB" sz="1800" dirty="0"/>
              <a:t>1</a:t>
            </a:r>
            <a:r>
              <a:rPr lang="en-GB" sz="1800" i="1" dirty="0"/>
              <a:t>| x</a:t>
            </a:r>
            <a:r>
              <a:rPr lang="en-GB" sz="1800" dirty="0"/>
              <a:t>)</a:t>
            </a:r>
            <a:r>
              <a:rPr lang="en-GB" sz="1800" i="1" dirty="0"/>
              <a:t> = </a:t>
            </a:r>
            <a:r>
              <a:rPr lang="en-GB" sz="1800" i="1" dirty="0" smtClean="0"/>
              <a:t>G</a:t>
            </a:r>
            <a:r>
              <a:rPr lang="en-GB" sz="1800" dirty="0" smtClean="0"/>
              <a:t>(</a:t>
            </a:r>
            <a:r>
              <a:rPr lang="en-GB" sz="1800" dirty="0" smtClean="0">
                <a:latin typeface="Symbol" pitchFamily="18" charset="2"/>
              </a:rPr>
              <a:t>b</a:t>
            </a:r>
            <a:r>
              <a:rPr lang="en-GB" sz="1800" baseline="-25000" dirty="0" smtClean="0">
                <a:latin typeface="Symbol" pitchFamily="18" charset="2"/>
              </a:rPr>
              <a:t>1</a:t>
            </a:r>
            <a:r>
              <a:rPr lang="en-GB" sz="1800" dirty="0" smtClean="0">
                <a:latin typeface="Symbol" pitchFamily="18" charset="2"/>
              </a:rPr>
              <a:t>+b</a:t>
            </a:r>
            <a:r>
              <a:rPr lang="en-GB" sz="1800" baseline="-25000" dirty="0" smtClean="0">
                <a:latin typeface="Symbol" pitchFamily="18" charset="2"/>
              </a:rPr>
              <a:t>2</a:t>
            </a:r>
            <a:r>
              <a:rPr lang="en-GB" sz="1800" i="1" dirty="0" smtClean="0"/>
              <a:t>x</a:t>
            </a:r>
            <a:r>
              <a:rPr lang="en-GB" sz="18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1987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7924800" y="423545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x’</a:t>
            </a:r>
            <a:r>
              <a:rPr lang="en-GB" sz="1800">
                <a:latin typeface="Symbol" pitchFamily="18" charset="2"/>
              </a:rPr>
              <a:t>b</a:t>
            </a:r>
          </a:p>
        </p:txBody>
      </p:sp>
      <p:sp>
        <p:nvSpPr>
          <p:cNvPr id="41990" name="Line 6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1858963" y="41290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2565400" y="12192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1993" name="Line 9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1994" name="Freeform 10"/>
          <p:cNvSpPr>
            <a:spLocks/>
          </p:cNvSpPr>
          <p:nvPr/>
        </p:nvSpPr>
        <p:spPr bwMode="auto">
          <a:xfrm>
            <a:off x="457200" y="1676400"/>
            <a:ext cx="8077200" cy="24384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8575" cap="flat" cmpd="sng">
            <a:solidFill>
              <a:srgbClr val="339966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2019" name="Line 35"/>
          <p:cNvSpPr>
            <a:spLocks noChangeShapeType="1"/>
          </p:cNvSpPr>
          <p:nvPr/>
        </p:nvSpPr>
        <p:spPr bwMode="auto">
          <a:xfrm>
            <a:off x="2438400" y="39624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2024" name="Line 40"/>
          <p:cNvSpPr>
            <a:spLocks noChangeShapeType="1"/>
          </p:cNvSpPr>
          <p:nvPr/>
        </p:nvSpPr>
        <p:spPr bwMode="auto">
          <a:xfrm>
            <a:off x="3124200" y="39624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2025" name="Rectangle 41"/>
          <p:cNvSpPr>
            <a:spLocks noChangeArrowheads="1"/>
          </p:cNvSpPr>
          <p:nvPr/>
        </p:nvSpPr>
        <p:spPr bwMode="auto">
          <a:xfrm>
            <a:off x="297180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2026" name="Text Box 42"/>
          <p:cNvSpPr txBox="1">
            <a:spLocks noChangeArrowheads="1"/>
          </p:cNvSpPr>
          <p:nvPr/>
        </p:nvSpPr>
        <p:spPr bwMode="auto">
          <a:xfrm>
            <a:off x="4724400" y="3200400"/>
            <a:ext cx="2743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 dPr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)/</a:t>
            </a:r>
            <a:r>
              <a:rPr lang="en-GB" sz="1800" i="1"/>
              <a:t>dx</a:t>
            </a:r>
            <a:endParaRPr lang="en-GB" sz="1800"/>
          </a:p>
        </p:txBody>
      </p:sp>
      <p:sp>
        <p:nvSpPr>
          <p:cNvPr id="42029" name="Line 45"/>
          <p:cNvSpPr>
            <a:spLocks noChangeShapeType="1"/>
          </p:cNvSpPr>
          <p:nvPr/>
        </p:nvSpPr>
        <p:spPr bwMode="auto">
          <a:xfrm flipV="1">
            <a:off x="1600200" y="3581400"/>
            <a:ext cx="4267200" cy="60960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2030" name="Text Box 46"/>
          <p:cNvSpPr txBox="1">
            <a:spLocks noChangeArrowheads="1"/>
          </p:cNvSpPr>
          <p:nvPr/>
        </p:nvSpPr>
        <p:spPr bwMode="auto">
          <a:xfrm>
            <a:off x="1219200" y="806450"/>
            <a:ext cx="1100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|x</a:t>
            </a:r>
            <a:r>
              <a:rPr lang="en-GB" sz="1800"/>
              <a:t>)</a:t>
            </a:r>
            <a:endParaRPr lang="en-GB" sz="1800">
              <a:latin typeface="TECHMath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59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62" name="Line 6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1858963" y="41290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2565400" y="12192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5065" name="Line 9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66" name="Freeform 10"/>
          <p:cNvSpPr>
            <a:spLocks/>
          </p:cNvSpPr>
          <p:nvPr/>
        </p:nvSpPr>
        <p:spPr bwMode="auto">
          <a:xfrm>
            <a:off x="457200" y="1676400"/>
            <a:ext cx="8077200" cy="24384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8575" cap="flat" cmpd="sng">
            <a:solidFill>
              <a:srgbClr val="339966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67" name="Line 11"/>
          <p:cNvSpPr>
            <a:spLocks noChangeShapeType="1"/>
          </p:cNvSpPr>
          <p:nvPr/>
        </p:nvSpPr>
        <p:spPr bwMode="auto">
          <a:xfrm>
            <a:off x="2514600" y="2438400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68" name="Line 12"/>
          <p:cNvSpPr>
            <a:spLocks noChangeShapeType="1"/>
          </p:cNvSpPr>
          <p:nvPr/>
        </p:nvSpPr>
        <p:spPr bwMode="auto">
          <a:xfrm>
            <a:off x="5715000" y="2438400"/>
            <a:ext cx="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>
            <a:off x="556260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5070" name="Text Box 14"/>
          <p:cNvSpPr txBox="1">
            <a:spLocks noChangeArrowheads="1"/>
          </p:cNvSpPr>
          <p:nvPr/>
        </p:nvSpPr>
        <p:spPr bwMode="auto">
          <a:xfrm>
            <a:off x="3657600" y="1981200"/>
            <a:ext cx="2743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 dPr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)/</a:t>
            </a:r>
            <a:r>
              <a:rPr lang="en-GB" sz="1800" i="1"/>
              <a:t>dx</a:t>
            </a:r>
            <a:endParaRPr lang="en-GB" sz="1800"/>
          </a:p>
        </p:txBody>
      </p:sp>
      <p:sp>
        <p:nvSpPr>
          <p:cNvPr id="45071" name="Line 15"/>
          <p:cNvSpPr>
            <a:spLocks noChangeShapeType="1"/>
          </p:cNvSpPr>
          <p:nvPr/>
        </p:nvSpPr>
        <p:spPr bwMode="auto">
          <a:xfrm flipV="1">
            <a:off x="3962400" y="1219200"/>
            <a:ext cx="3200400" cy="266700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5072" name="Text Box 16"/>
          <p:cNvSpPr txBox="1">
            <a:spLocks noChangeArrowheads="1"/>
          </p:cNvSpPr>
          <p:nvPr/>
        </p:nvSpPr>
        <p:spPr bwMode="auto">
          <a:xfrm>
            <a:off x="7924800" y="423545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x’</a:t>
            </a:r>
            <a:r>
              <a:rPr lang="en-GB" sz="1800">
                <a:latin typeface="Symbol" pitchFamily="18" charset="2"/>
              </a:rPr>
              <a:t>b</a:t>
            </a:r>
          </a:p>
        </p:txBody>
      </p:sp>
      <p:sp>
        <p:nvSpPr>
          <p:cNvPr id="45073" name="Text Box 17"/>
          <p:cNvSpPr txBox="1">
            <a:spLocks noChangeArrowheads="1"/>
          </p:cNvSpPr>
          <p:nvPr/>
        </p:nvSpPr>
        <p:spPr bwMode="auto">
          <a:xfrm>
            <a:off x="1219200" y="806450"/>
            <a:ext cx="1100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|x</a:t>
            </a:r>
            <a:r>
              <a:rPr lang="en-GB" sz="1800"/>
              <a:t>)</a:t>
            </a:r>
            <a:endParaRPr lang="en-GB" sz="1800">
              <a:latin typeface="TECHMath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2"/>
          <p:cNvSpPr>
            <a:spLocks noChangeShapeType="1"/>
          </p:cNvSpPr>
          <p:nvPr/>
        </p:nvSpPr>
        <p:spPr bwMode="auto">
          <a:xfrm flipV="1">
            <a:off x="2438400" y="914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6083" name="Line 3"/>
          <p:cNvSpPr>
            <a:spLocks noChangeShapeType="1"/>
          </p:cNvSpPr>
          <p:nvPr/>
        </p:nvSpPr>
        <p:spPr bwMode="auto">
          <a:xfrm>
            <a:off x="381000" y="4191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1219200" y="806450"/>
            <a:ext cx="1100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1800" i="1"/>
              <a:t>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|x</a:t>
            </a:r>
            <a:r>
              <a:rPr lang="en-GB" sz="1800"/>
              <a:t>)</a:t>
            </a:r>
            <a:endParaRPr lang="en-GB" sz="1800">
              <a:latin typeface="TECHMath" pitchFamily="2" charset="2"/>
            </a:endParaRPr>
          </a:p>
        </p:txBody>
      </p:sp>
      <p:sp>
        <p:nvSpPr>
          <p:cNvPr id="46086" name="Line 6"/>
          <p:cNvSpPr>
            <a:spLocks noChangeShapeType="1"/>
          </p:cNvSpPr>
          <p:nvPr/>
        </p:nvSpPr>
        <p:spPr bwMode="auto">
          <a:xfrm flipV="1">
            <a:off x="2438400" y="16002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1858963" y="412908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0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2565400" y="12192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1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6089" name="Line 9"/>
          <p:cNvSpPr>
            <a:spLocks noChangeShapeType="1"/>
          </p:cNvSpPr>
          <p:nvPr/>
        </p:nvSpPr>
        <p:spPr bwMode="auto">
          <a:xfrm flipV="1">
            <a:off x="2438400" y="9144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6090" name="Freeform 10"/>
          <p:cNvSpPr>
            <a:spLocks/>
          </p:cNvSpPr>
          <p:nvPr/>
        </p:nvSpPr>
        <p:spPr bwMode="auto">
          <a:xfrm>
            <a:off x="457200" y="1676400"/>
            <a:ext cx="8077200" cy="2438400"/>
          </a:xfrm>
          <a:custGeom>
            <a:avLst/>
            <a:gdLst/>
            <a:ahLst/>
            <a:cxnLst>
              <a:cxn ang="0">
                <a:pos x="0" y="1648"/>
              </a:cxn>
              <a:cxn ang="0">
                <a:pos x="1200" y="1600"/>
              </a:cxn>
              <a:cxn ang="0">
                <a:pos x="2064" y="1456"/>
              </a:cxn>
              <a:cxn ang="0">
                <a:pos x="2784" y="1024"/>
              </a:cxn>
              <a:cxn ang="0">
                <a:pos x="3216" y="592"/>
              </a:cxn>
              <a:cxn ang="0">
                <a:pos x="3600" y="304"/>
              </a:cxn>
              <a:cxn ang="0">
                <a:pos x="4128" y="112"/>
              </a:cxn>
              <a:cxn ang="0">
                <a:pos x="4656" y="16"/>
              </a:cxn>
              <a:cxn ang="0">
                <a:pos x="5040" y="16"/>
              </a:cxn>
            </a:cxnLst>
            <a:rect l="0" t="0" r="r" b="b"/>
            <a:pathLst>
              <a:path w="5040" h="1648">
                <a:moveTo>
                  <a:pt x="0" y="1648"/>
                </a:moveTo>
                <a:cubicBezTo>
                  <a:pt x="428" y="1640"/>
                  <a:pt x="856" y="1632"/>
                  <a:pt x="1200" y="1600"/>
                </a:cubicBezTo>
                <a:cubicBezTo>
                  <a:pt x="1544" y="1568"/>
                  <a:pt x="1800" y="1552"/>
                  <a:pt x="2064" y="1456"/>
                </a:cubicBezTo>
                <a:cubicBezTo>
                  <a:pt x="2328" y="1360"/>
                  <a:pt x="2592" y="1168"/>
                  <a:pt x="2784" y="1024"/>
                </a:cubicBezTo>
                <a:cubicBezTo>
                  <a:pt x="2976" y="880"/>
                  <a:pt x="3080" y="712"/>
                  <a:pt x="3216" y="592"/>
                </a:cubicBezTo>
                <a:cubicBezTo>
                  <a:pt x="3352" y="472"/>
                  <a:pt x="3448" y="384"/>
                  <a:pt x="3600" y="304"/>
                </a:cubicBezTo>
                <a:cubicBezTo>
                  <a:pt x="3752" y="224"/>
                  <a:pt x="3952" y="160"/>
                  <a:pt x="4128" y="112"/>
                </a:cubicBezTo>
                <a:cubicBezTo>
                  <a:pt x="4304" y="64"/>
                  <a:pt x="4504" y="32"/>
                  <a:pt x="4656" y="16"/>
                </a:cubicBezTo>
                <a:cubicBezTo>
                  <a:pt x="4808" y="0"/>
                  <a:pt x="4976" y="16"/>
                  <a:pt x="5040" y="16"/>
                </a:cubicBezTo>
              </a:path>
            </a:pathLst>
          </a:custGeom>
          <a:noFill/>
          <a:ln w="28575" cap="flat" cmpd="sng">
            <a:solidFill>
              <a:srgbClr val="339966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6091" name="Line 11"/>
          <p:cNvSpPr>
            <a:spLocks noChangeShapeType="1"/>
          </p:cNvSpPr>
          <p:nvPr/>
        </p:nvSpPr>
        <p:spPr bwMode="auto">
          <a:xfrm>
            <a:off x="2438400" y="1752600"/>
            <a:ext cx="4953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6092" name="Line 12"/>
          <p:cNvSpPr>
            <a:spLocks noChangeShapeType="1"/>
          </p:cNvSpPr>
          <p:nvPr/>
        </p:nvSpPr>
        <p:spPr bwMode="auto">
          <a:xfrm>
            <a:off x="7391400" y="1752600"/>
            <a:ext cx="0" cy="2438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7239000" y="41910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i="1"/>
              <a:t>x</a:t>
            </a:r>
            <a:r>
              <a:rPr lang="en-GB" sz="1800" baseline="-25000">
                <a:latin typeface="Symbol" pitchFamily="18" charset="2"/>
              </a:rPr>
              <a:t>i</a:t>
            </a:r>
            <a:endParaRPr lang="en-US" sz="1800" baseline="-25000">
              <a:latin typeface="Symbol" pitchFamily="18" charset="2"/>
            </a:endParaRPr>
          </a:p>
        </p:txBody>
      </p:sp>
      <p:sp>
        <p:nvSpPr>
          <p:cNvPr id="46094" name="Text Box 14"/>
          <p:cNvSpPr txBox="1">
            <a:spLocks noChangeArrowheads="1"/>
          </p:cNvSpPr>
          <p:nvPr/>
        </p:nvSpPr>
        <p:spPr bwMode="auto">
          <a:xfrm>
            <a:off x="6400800" y="1143000"/>
            <a:ext cx="2743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 dPr</a:t>
            </a:r>
            <a:r>
              <a:rPr lang="en-GB" sz="1800"/>
              <a:t>(</a:t>
            </a:r>
            <a:r>
              <a:rPr lang="en-GB" sz="1800" i="1"/>
              <a:t>y=</a:t>
            </a:r>
            <a:r>
              <a:rPr lang="en-GB" sz="1800"/>
              <a:t>1</a:t>
            </a:r>
            <a:r>
              <a:rPr lang="en-GB" sz="1800" i="1"/>
              <a:t>| x</a:t>
            </a:r>
            <a:r>
              <a:rPr lang="en-GB" sz="1800"/>
              <a:t>)/</a:t>
            </a:r>
            <a:r>
              <a:rPr lang="en-GB" sz="1800" i="1"/>
              <a:t>dx</a:t>
            </a:r>
            <a:endParaRPr lang="en-GB" sz="1800"/>
          </a:p>
        </p:txBody>
      </p:sp>
      <p:sp>
        <p:nvSpPr>
          <p:cNvPr id="46095" name="Line 15"/>
          <p:cNvSpPr>
            <a:spLocks noChangeShapeType="1"/>
          </p:cNvSpPr>
          <p:nvPr/>
        </p:nvSpPr>
        <p:spPr bwMode="auto">
          <a:xfrm flipV="1">
            <a:off x="4648200" y="1447800"/>
            <a:ext cx="4191000" cy="83820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7924800" y="423545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800" i="1"/>
              <a:t>x’</a:t>
            </a:r>
            <a:r>
              <a:rPr lang="en-GB" sz="1800">
                <a:latin typeface="Symbol" pitchFamily="18" charset="2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2080</TotalTime>
  <Words>379</Words>
  <Application>Microsoft Office PowerPoint</Application>
  <PresentationFormat>On-screen Show (4:3)</PresentationFormat>
  <Paragraphs>163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IFS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cp:lastModifiedBy>Ralf Wilke</cp:lastModifiedBy>
  <cp:revision>13</cp:revision>
  <cp:lastPrinted>2000-02-16T09:30:04Z</cp:lastPrinted>
  <dcterms:created xsi:type="dcterms:W3CDTF">2000-02-09T08:53:04Z</dcterms:created>
  <dcterms:modified xsi:type="dcterms:W3CDTF">2013-02-13T13:28:59Z</dcterms:modified>
</cp:coreProperties>
</file>